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7" r:id="rId28"/>
    <p:sldId id="257" r:id="rId3"/>
    <p:sldId id="258" r:id="rId4"/>
    <p:sldId id="259" r:id="rId5"/>
    <p:sldId id="260" r:id="rId6"/>
    <p:sldId id="261" r:id="rId7"/>
    <p:sldId id="262" r:id="rId8"/>
    <p:sldId id="278" r:id="rId29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.xml"/><Relationship Id="rId29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E5C"/>
                </a:solidFill>
                <a:latin typeface="Arial"/>
              </a:defRPr>
            </a:pPr>
            <a:r>
              <a:rPr lang="es-ES" sz="1200" b="0" i="0" u="none" strike="noStrike">
                <a:solidFill>
                  <a:srgbClr val="1A2E5C"/>
                </a:solidFill>
                <a:latin typeface="Arial"/>
              </a:rPr>
              <a:t>Serie histórica + pronóstico 7 días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Histórico (PM2.5)</c:v>
                </c:pt>
              </c:strCache>
            </c:strRef>
          </c:tx>
          <c:spPr>
            <a:ln w="38100" cap="flat">
              <a:solidFill>
                <a:srgbClr val="2563A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563AB"/>
              </a:solidFill>
              <a:ln w="9525" cap="flat">
                <a:solidFill>
                  <a:srgbClr val="2563AB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+1</c:v>
                </c:pt>
                <c:pt idx="9">
                  <c:v>+2</c:v>
                </c:pt>
                <c:pt idx="10">
                  <c:v>+3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22</c:v>
                </c:pt>
                <c:pt idx="1">
                  <c:v>26</c:v>
                </c:pt>
                <c:pt idx="2">
                  <c:v>24</c:v>
                </c:pt>
                <c:pt idx="3">
                  <c:v>28</c:v>
                </c:pt>
                <c:pt idx="4">
                  <c:v>27</c:v>
                </c:pt>
                <c:pt idx="5">
                  <c:v>31</c:v>
                </c:pt>
                <c:pt idx="6">
                  <c:v>29</c:v>
                </c:pt>
                <c:pt idx="7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185-46A6-9B95-799D37D282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Predicción 7d</c:v>
                </c:pt>
              </c:strCache>
            </c:strRef>
          </c:tx>
          <c:spPr>
            <a:ln w="38100" cap="flat">
              <a:solidFill>
                <a:srgbClr val="F39C1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39C12"/>
              </a:solidFill>
              <a:ln w="9525" cap="flat">
                <a:solidFill>
                  <a:srgbClr val="F39C12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+1</c:v>
                </c:pt>
                <c:pt idx="9">
                  <c:v>+2</c:v>
                </c:pt>
                <c:pt idx="10">
                  <c:v>+3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7">
                  <c:v>33</c:v>
                </c:pt>
                <c:pt idx="8">
                  <c:v>34.5</c:v>
                </c:pt>
                <c:pt idx="9">
                  <c:v>36</c:v>
                </c:pt>
                <c:pt idx="10">
                  <c:v>37.5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185-46A6-9B95-799D37D282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B87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1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B87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5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5577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Buenos días. Somos el Equipo 80 y presentamos VigIA: inteligencia artificial que vigila, protege y cuida el entorno de los colombianos. Convertimos datos abiertos del Estado, sensores en campo e IA en información que cualquier ciudadano entiende y puede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[0:20–0:50] El problema no es falta de datos: es que están fragmentados, son técnicos y llegan tarde. Cuando hay un incendio, un pico de contaminación o de hurtos, el ciudadano se entera cuando ya ocurrió. Colombia publica los datos, pero no llegan a quien los necesita, cuando los necesita.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[0:50–1:20] VigIA une tres cosas en un solo lugar: datos abiertos oficiales en vivo, un sensor IoT real en campo, y un sistema de inteligencia artificial que traduce todo a lenguaje ciudadano. El ciudadano obtiene interpretación, predicción, recomendaciones y alertas — verificables — en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[1:20–1:55] Usamos once datasets de datos.gov.co consultados en vivo por la API Socrata: cuatro de calidad del aire, uno de incendios, uno de clima y cinco de seguridad del SIEDCO — incluyendo hurto a personas, comercio y residencias. A eso sumamos un sensor IoT real, un ESP8266 con sensor MQ2, desplegado y enviando datos de campo.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[1:55–2:25] La arquitectura es una tubería clara: las fuentes alimentan un backend en PHP que consulta, normaliza y analiza; de ahí pasa al sistema multi-agente y a la base de datos; y finalmente al frontend con paneles y chat. Cada paso deja trazabilidad: de qué dataset, qué municipio y qué fecha salió cada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[2:25–2:55] El corazón de la IA es un sistema multi-agente. Un Agente Clasificador entiende la pregunta y decide qué datos traer; luego enruta a un especialista: ambiental, seguridad, predictor, simulador o el agente general. Y es multi-proveedor: funciona con Kimi, OpenAI, Gemini, Claude o cualquier modelo compatible.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[2:55–3:30] Este es nuestro diferenciador. La predicción a 7 días NO la inventa un modelo de lenguaje: la calcula un módulo estadístico —regresión lineal con banda de confianza y backtesting— que reporta R², MAE, RMSE y MAPE reales. Las alertas son reglas determinísticas auditables. El LLM solo explica el resultado. Y todo esto funciona incluso sin API key. Eso nos blinda ante la pregunta '¿y esto no es una alucinación?'.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[3:30–4:00] La innovación que nos distingue: un modelo de visión por computador, entrenado por nuestro equipo, detecta eventos de hurto en video y los cruza con la estadística oficial del SIEDCO por municipio. Así una detección en vivo no queda aislada: se contextualiza con la cifra real del territorio. Detección más evidencia oficial igual a alerta accionable y defendible.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Para un jurado técnico, IA no puede ser una caja negra. Por eso cada respuesta muestra su procedencia: de qué dataset, qué municipio, cuántos registros y de qué fecha. La analítica es auditable, la visión clasifica acciones y no personas, y toda alerta pasa por revisión humana. Es IA de apoyo, verificable.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[4:20–4:40] VigIA se construye dentro del marco normativo colombiano: la Ley 1712 de transparencia, que sustenta los datos abiertos; la Ley 1581 y 1266 de protección de datos; el CONPES 3975 de inteligencia artificial; y la reciente Circular 002 de 2024 de la SIC sobre datos en sistemas de IA. Nuestro compromiso: sin reconocimiento facial, solo análisis agregado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[4:40–5:00] El impacto es concreto y medible. En Pereira traducimos y predecimos calidad del aire; en Bogotá cruzamos hurtos con visión; en Boyacá anticipamos incendios. Once datasets integrados, tres modalidades de hurto cruzadas, consulta ciudadana en segundos, y funciona sin ninguna API key. Es replicable a cualquier municipio configurando una fuente. Gracias — VigIA: datos que protegen.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apoyo (roadmap). La arquitectura ya es escalable: añadir un dataset o un municipio es configuración, no reingeniería. El camino va de piloto validado a red de sensores y plataforma nacional integrada con entidades.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Equipo 80: Andrés Nova, líder de proyecto y gerente de tecnología e innovación con 18 años; Néstor Santos, AI Cloud Engineer de Oracle formado en MIT, autor del modelo de visión; y Ángela Mariana Martínez, abogada y especialista en gestión pública que garantiza el cumplimiento normativo. Técnica, cloud/IA y jurídico-pública: una combinación hecha para govtech.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VigIA: datos abiertos más IA responsable igual a decisiones que protegen a Colombia. Repositorio, modelo y demo disponibles. Gracias —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— catálogo completo de los 11 datasets con IDs de recurso. Todos consultados en vivo por API Socrata SODA.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— seguimos CRISP-ML(Q), el estándar de proyectos de machine learning con aseguramiento de calidad, en sus seis fases.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— el detalle metodológico de la predicción, reproducible en src/Analitica.php, con un ejemplo real sobre 170 días de datos de Pereira.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— el pipeline multi-agente son dos llamadas en cadena: un clasificador que enruta y un especialista que responde con los datos ya consultados. Cuatro tipos de tarea, cada uno con su 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— el hardware: un ESP8266 con sensor MQ2 que envía por HTTPS a nuestro endpoint. La visión se integra de dos formas: webhook (push) o microservicio (pull).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— el modelo de visión es una TSN sobre MMAction2. Cada clase detectada se mapea a su modalidad de hurto SIEDCO y a su dataset, que es lo que permite el cruce con la estadística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— ficha técnica del stack y del cumplimiento: código abierto MIT, sin secretos, solo fuentes oficiales anonimizadas, IA con revisión humana, y documentación completa incluida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321040" y="-2011680"/>
            <a:ext cx="4754880" cy="4754880"/>
          </a:xfrm>
          <a:prstGeom prst="ellipse">
            <a:avLst/>
          </a:prstGeom>
          <a:solidFill>
            <a:srgbClr val="1DB87F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692640" y="3291840"/>
            <a:ext cx="3108960" cy="3108960"/>
          </a:xfrm>
          <a:prstGeom prst="ellipse">
            <a:avLst/>
          </a:prstGeom>
          <a:solidFill>
            <a:srgbClr val="2563AB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10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</a:t>
            </a:r>
            <a:r>
              <a:rPr lang="en-US" sz="8100" b="1" kern="0" spc="-10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81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 que VIGILA, PROTEGE y CUIDA tu entorno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5394960" cy="457200"/>
          </a:xfrm>
          <a:prstGeom prst="roundRect">
            <a:avLst>
              <a:gd name="adj" fmla="val 48000"/>
            </a:avLst>
          </a:prstGeom>
          <a:solidFill>
            <a:srgbClr val="1DB8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Concurso Datos al Ecosistema 2026 · IA para Colombia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80 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Santos  ·  Ángela Mariana Martínez  ·  Andrés Nova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A3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rone_sc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81" y="365760"/>
            <a:ext cx="7821038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existen, pero el ciudadano no los entiende a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4672" y="2011680"/>
            <a:ext cx="594360" cy="594360"/>
          </a:xfrm>
          <a:prstGeom prst="ellipse">
            <a:avLst/>
          </a:prstGeom>
          <a:solidFill>
            <a:srgbClr val="C0392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9019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Fragmentados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Cientos de datasets técnicos dispersos en portales oficiales.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04672" y="3337560"/>
            <a:ext cx="594360" cy="594360"/>
          </a:xfrm>
          <a:prstGeom prst="ellipse">
            <a:avLst/>
          </a:prstGeom>
          <a:solidFill>
            <a:srgbClr val="2563A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3337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278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Incomprensibles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6118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PM2.5, PM10, SIEDCO… cifras sin traducción para la gente.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64922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04672" y="4663440"/>
            <a:ext cx="594360" cy="594360"/>
          </a:xfrm>
          <a:prstGeom prst="ellipse">
            <a:avLst/>
          </a:prstGeom>
          <a:solidFill>
            <a:srgbClr val="F39C12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4672" y="4663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455371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9377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Incendios, contaminación o inseguridad se conocen cuando ya pasó — con datos a veces desactualizados o tardíos.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06640" y="1737360"/>
            <a:ext cx="4206240" cy="3977640"/>
          </a:xfrm>
          <a:prstGeom prst="roundRect">
            <a:avLst>
              <a:gd name="adj" fmla="val 2069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635240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consecuencia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35240" y="2377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 públicas y ciudadanas se toman sin tener en cuenta la información que el país ya tiene disponible.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635240" y="3383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+150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7635240" y="4343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compiten por resolver retos reales con datos abiertos — el nuestro los vuelve accionables.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VigIA: un solo lugar donde los datos se vuelven decisiones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09728"/>
          </a:xfrm>
          <a:prstGeom prst="roundRect">
            <a:avLst>
              <a:gd name="adj" fmla="val 41667"/>
            </a:avLst>
          </a:prstGeom>
          <a:solidFill>
            <a:srgbClr val="2563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abiertos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datasets de datos.gov.co en vivo (API Socrata SODA).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33672" y="1783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233672" y="1783080"/>
            <a:ext cx="3502152" cy="109728"/>
          </a:xfrm>
          <a:prstGeom prst="roundRect">
            <a:avLst>
              <a:gd name="adj" fmla="val 41667"/>
            </a:avLst>
          </a:prstGeom>
          <a:solidFill>
            <a:srgbClr val="12A3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62272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IoT real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2272" y="24688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ESP8266 + MQ2 desplegado, midiendo en campo por API.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18704" y="1783080"/>
            <a:ext cx="3502152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8704" y="1783080"/>
            <a:ext cx="3502152" cy="109728"/>
          </a:xfrm>
          <a:prstGeom prst="roundRect">
            <a:avLst>
              <a:gd name="adj" fmla="val 41667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47304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multi-agente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47304" y="24688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Interpreta, predice, recomienda y responde en lenguaje ciudadano.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64240" cy="1828800"/>
          </a:xfrm>
          <a:prstGeom prst="roundRect">
            <a:avLst>
              <a:gd name="adj" fmla="val 4500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con IA · Predicción a 7 días con métricas · Recomendaciones por municipio · Chat multi-agente · Alertas · Detección de hurto por visión cruzada con SIEDCO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datasets de datos.gov.co + un sensor IoT real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2563A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28800" y="2011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del Aire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 Risaralda, IDEAM, SVCA, Duitama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103120"/>
            <a:ext cx="777240" cy="777240"/>
          </a:xfrm>
          <a:prstGeom prst="ellipse">
            <a:avLst/>
          </a:prstGeom>
          <a:solidFill>
            <a:srgbClr val="F39C12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98080" y="2011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4048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CORPOBOYACÁ — cobertura vegetal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" y="3703320"/>
            <a:ext cx="777240" cy="7772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2880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28800" y="40050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climática del IDEAM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3383280"/>
            <a:ext cx="53949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3703320"/>
            <a:ext cx="777240" cy="777240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3703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9808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(SIEDCO)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005072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personas / comercio / residencias, homicidios, lesiones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22960" y="5212080"/>
            <a:ext cx="594360" cy="594360"/>
          </a:xfrm>
          <a:prstGeom prst="ellipse">
            <a:avLst/>
          </a:prstGeom>
          <a:solidFill>
            <a:srgbClr val="1DB87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2960" y="5212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45920" y="5138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IoT real desplegado  ESP8266 + MQ‑2: mide calidad del aire (gas) y transmite las lecturas por API en tiempo real. Piloto actual sin sensor de sonido físico — el campo de ruido queda soportado y listo para integrarlo.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fuentes de datos al ciudadano, mediante un flujo de datos verificable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2563AB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0756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423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datos.gov.co (Socrata) + Sensor IoT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794760" y="19659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931920" y="20756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PHP 8.2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31920" y="2423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Socrata · Dron · Analítica · Alertas · Cruce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040880" y="1965960"/>
            <a:ext cx="2743200" cy="1280160"/>
          </a:xfrm>
          <a:prstGeom prst="roundRect">
            <a:avLst>
              <a:gd name="adj" fmla="val 5714"/>
            </a:avLst>
          </a:prstGeom>
          <a:solidFill>
            <a:srgbClr val="12A36A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78040" y="20756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78040" y="2423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→ Especialista + LLM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794760" y="379476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39044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MariaDB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931920" y="4251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lecturas · eventos · config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40880" y="379476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78040" y="390448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78040" y="4251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+ Chart.js · paneles + chat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91840" y="2606040"/>
            <a:ext cx="50292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537960" y="2606040"/>
            <a:ext cx="50292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166360" y="3246120"/>
            <a:ext cx="0" cy="54864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37960" y="4361688"/>
            <a:ext cx="50292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012680" y="1965960"/>
            <a:ext cx="1600200" cy="2971800"/>
          </a:xfrm>
          <a:prstGeom prst="roundRect">
            <a:avLst>
              <a:gd name="adj" fmla="val 5143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195560" y="2194560"/>
            <a:ext cx="1280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flujo registra procedencia: dataset, ID, municipio, registros y fecha.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multi-agente: el dato correcto, el agente correcto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dominio + si necesita datos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08960" y="2697480"/>
            <a:ext cx="457200" cy="0"/>
          </a:xfrm>
          <a:prstGeom prst="line">
            <a:avLst/>
          </a:prstGeom>
          <a:noFill/>
          <a:ln w="28575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749040" y="160020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2A3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895344" y="1746504"/>
            <a:ext cx="365760" cy="365760"/>
          </a:xfrm>
          <a:prstGeom prst="ellipse">
            <a:avLst/>
          </a:prstGeom>
          <a:solidFill>
            <a:srgbClr val="12A36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34840" y="161848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Ambiental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49040" y="242316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2E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895344" y="2569464"/>
            <a:ext cx="365760" cy="365760"/>
          </a:xfrm>
          <a:prstGeom prst="ellipse">
            <a:avLst/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34840" y="24414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Seguridad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49040" y="324612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2563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95344" y="3392424"/>
            <a:ext cx="365760" cy="365760"/>
          </a:xfrm>
          <a:prstGeom prst="ellipse">
            <a:avLst/>
          </a:prstGeom>
          <a:solidFill>
            <a:srgbClr val="2563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34840" y="326440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Predictor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3749040" y="406908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895344" y="4215384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34840" y="408736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Simulador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49040" y="4892040"/>
            <a:ext cx="28346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895344" y="5038344"/>
            <a:ext cx="365760" cy="365760"/>
          </a:xfrm>
          <a:prstGeom prst="ellipse">
            <a:avLst/>
          </a:prstGeom>
          <a:solidFill>
            <a:srgbClr val="1DB8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434840" y="49103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VigIA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189720" y="1600200"/>
            <a:ext cx="2423160" cy="4160520"/>
          </a:xfrm>
          <a:prstGeom prst="roundRect">
            <a:avLst>
              <a:gd name="adj" fmla="val 339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72600" y="17830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api/llm.php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72600" y="21945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72600" y="25786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alertar (regla)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72600" y="2962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(estadística)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72600" y="3346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7260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Multi-proveedor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372600" y="422452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· OpenAI · OpenRouter · Gemini · Claude · Custom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TÉCNICO — NUESTRO DIFERENCIADOR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es estadística, no la inventa un LLM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83080"/>
          <a:ext cx="61264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949440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949440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107985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107985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9.3%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107985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266530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66530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9266530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0425074" y="1783080"/>
            <a:ext cx="105156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0425074" y="186537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10425074" y="23957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49440" y="2971800"/>
            <a:ext cx="4544568" cy="2514600"/>
          </a:xfrm>
          <a:prstGeom prst="roundRect">
            <a:avLst>
              <a:gd name="adj" fmla="val 3273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178040" y="3154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7178040" y="35478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por mínimos cuadrados + backtesting (MAE/RMSE/MAPE).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178040" y="4005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por reglas determinísticas, basadas en estándares de la OMS (PM2.5, PM10, ruido).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78040" y="4462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solo explica; nunca inventa cifras.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178040" y="49194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incluso SIN API key de LLM.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2A36A"/>
                </a:solidFill>
                <a:latin typeface="Calibri"/>
              </a:rPr>
              <a:t>RIGOR Y TRANSPARENCIA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E5C"/>
                </a:solidFill>
                <a:latin typeface="Calibri"/>
              </a:rPr>
              <a:t>¿Cómo leemos los datos? Un ejemplo real de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20"/>
            <a:ext cx="11064240" cy="109728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E1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A36A"/>
                </a:solidFill>
                <a:latin typeface="Calibri"/>
              </a:rPr>
              <a:t>Ejemplo real probado hoy en la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40000"/>
            <a:ext cx="105156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E5C"/>
                </a:solidFill>
                <a:latin typeface="Calibri"/>
              </a:rPr>
              <a:t>Calidad del aire — Risaralda · CVC  </a:t>
            </a:r>
            <a:r>
              <a:rPr sz="1250" b="0" i="0">
                <a:solidFill>
                  <a:srgbClr val="2C3E50"/>
                </a:solidFill>
                <a:latin typeface="Calibri"/>
              </a:rPr>
              <a:t>(ID </a:t>
            </a:r>
            <a:r>
              <a:rPr sz="1250" b="1" i="0">
                <a:solidFill>
                  <a:srgbClr val="2C3E50"/>
                </a:solidFill>
                <a:latin typeface="Calibri"/>
              </a:rPr>
              <a:t>53gx-j5pc</a:t>
            </a:r>
            <a:r>
              <a:rPr sz="1250" b="0" i="0">
                <a:solidFill>
                  <a:srgbClr val="2C3E50"/>
                </a:solidFill>
                <a:latin typeface="Calibri"/>
              </a:rPr>
              <a:t>) · 500 registros · última fecha 2023-07-30 · tendencia </a:t>
            </a:r>
            <a:r>
              <a:rPr sz="1250" b="1" i="0">
                <a:solidFill>
                  <a:srgbClr val="12A36A"/>
                </a:solidFill>
                <a:latin typeface="Calibri"/>
              </a:rPr>
              <a:t>estable</a:t>
            </a:r>
            <a:r>
              <a:rPr sz="1250" b="0" i="0">
                <a:solidFill>
                  <a:srgbClr val="2C3E50"/>
                </a:solidFill>
                <a:latin typeface="Calibri"/>
              </a:rPr>
              <a:t> · confianza </a:t>
            </a:r>
            <a:r>
              <a:rPr sz="1250" b="1" i="0">
                <a:solidFill>
                  <a:srgbClr val="F39C12"/>
                </a:solidFill>
                <a:latin typeface="Calibri"/>
              </a:rPr>
              <a:t>media</a:t>
            </a:r>
            <a:r>
              <a:rPr sz="1250" b="0" i="1">
                <a:solidFill>
                  <a:srgbClr val="7B8794"/>
                </a:solidFill>
                <a:latin typeface="Calibri"/>
              </a:rPr>
              <a:t> (R²=0.23, MAPE=9.85%)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53949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3749040"/>
            <a:ext cx="548640" cy="548640"/>
          </a:xfrm>
          <a:prstGeom prst="ellipse">
            <a:avLst/>
          </a:prstGeom>
          <a:solidFill>
            <a:srgbClr val="1A2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749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6027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E5C"/>
                </a:solidFill>
                <a:latin typeface="Calibri"/>
              </a:rPr>
              <a:t>La interpretación la escribe la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959352"/>
            <a:ext cx="4251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2C3E50"/>
                </a:solidFill>
                <a:latin typeface="Calibri"/>
              </a:rPr>
              <a:t>El modelo de lenguaje recibe SOLO los datos reales del dataset oficial (nunca inventa cifras) y los explica en palabras simples: compara el aire con referencias internacionales de calidad, y en seguridad describe si los casos de un municipio son altos o bajos frente a otros.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74720"/>
            <a:ext cx="53949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3749040"/>
            <a:ext cx="548640" cy="548640"/>
          </a:xfrm>
          <a:prstGeom prst="ellipse">
            <a:avLst/>
          </a:prstGeom>
          <a:solidFill>
            <a:srgbClr val="256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37490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6027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E5C"/>
                </a:solidFill>
                <a:latin typeface="Calibri"/>
              </a:rPr>
              <a:t>La tendencia la calcula una fórmula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959352"/>
            <a:ext cx="4251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2C3E50"/>
                </a:solidFill>
                <a:latin typeface="Calibri"/>
              </a:rPr>
              <a:t>“Estable”, “alza” o “baja” NO lo decide la IA: es una regresión lineal sobre el histórico. Si el cambio diario promedio es menor al 1%, el sistema marca “estable” — automáticamente, sin intervención humana ni del modelo de lenguaje.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754880"/>
            <a:ext cx="53949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5029200"/>
            <a:ext cx="548640" cy="548640"/>
          </a:xfrm>
          <a:prstGeom prst="ellipse">
            <a:avLst/>
          </a:prstGeom>
          <a:solidFill>
            <a:srgbClr val="12A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029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88289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E5C"/>
                </a:solidFill>
                <a:latin typeface="Calibri"/>
              </a:rPr>
              <a:t>La confianza se calcula sola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39512"/>
            <a:ext cx="4251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2C3E50"/>
                </a:solidFill>
                <a:latin typeface="Calibri"/>
              </a:rPr>
              <a:t>El R² y el MAPE del backtesting definen si la confianza es alta, media o baja con una regla fija (ej. MAPE≤15% y R²≥0.5 → alta). Con MAPE=9.85% y R²=0.23, el sistema marcó “media”, sin que nadie lo decidiera a mano.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754880"/>
            <a:ext cx="53949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3952" y="5029200"/>
            <a:ext cx="548640" cy="548640"/>
          </a:xfrm>
          <a:prstGeom prst="ellipse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50292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88289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E5C"/>
                </a:solidFill>
                <a:latin typeface="Calibri"/>
              </a:rPr>
              <a:t>Consultamos en vivo, no en caché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239512"/>
            <a:ext cx="4251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2C3E50"/>
                </a:solidFill>
                <a:latin typeface="Calibri"/>
              </a:rPr>
              <a:t>Cada vez que un ciudadano abre una consulta, VigIA llama en ese instante a la API oficial de datos.gov.co — sin espera ni almacenamiento previo. El sensor IoT envía sus lecturas de forma continua y las alertas se revisan cada 60 segundos.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794"/>
                </a:solidFill>
                <a:latin typeface="Calibri"/>
              </a:rPr>
              <a:t>VigIA · Equipo 80 — Concurso Datos al Ecosistema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por computador cruzada con la estadística oficial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3931920"/>
          </a:xfrm>
          <a:prstGeom prst="roundRect">
            <a:avLst>
              <a:gd name="adj" fmla="val 2093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visión (TSN · MMAction2)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 eventos en video: hurto (robbery, stealing, shoplifting, burglary) y riesgo, con nivel de alerta.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Entrenado por el equipo · integrado por webhook y microservicio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4663440" cy="0"/>
          </a:xfrm>
          <a:prstGeom prst="line">
            <a:avLst/>
          </a:prstGeom>
          <a:noFill/>
          <a:ln w="12700">
            <a:solidFill>
              <a:srgbClr val="3A4C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42062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Shoplifting →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a comercio
</a:t>
            </a:r>
            <a:r>
              <a:rPr lang="en-US" sz="125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Burglary →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a residencias
</a:t>
            </a:r>
            <a:r>
              <a:rPr lang="en-US" sz="125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Robbery →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 a personas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760720" y="3749040"/>
            <a:ext cx="640080" cy="0"/>
          </a:xfrm>
          <a:prstGeom prst="line">
            <a:avLst/>
          </a:prstGeom>
          <a:noFill/>
          <a:ln w="38100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92240" y="1828800"/>
            <a:ext cx="512064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76656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Cruce con SIEDCO (datos.gov.co)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0" y="2468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detección en vivo se contextualiza con la estadística oficial del municipio: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66560" y="3200400"/>
            <a:ext cx="4572000" cy="2331720"/>
          </a:xfrm>
          <a:prstGeom prst="roundRect">
            <a:avLst>
              <a:gd name="adj" fmla="val 3529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949440" y="3383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“Detección: hurto a comercio en Bogotá”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49440" y="384048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SIEDCO registra N casos de hurto a comercio en el municipio en los últimos 90 días, con tendencia a la baja.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49440" y="4892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en tiempo real + evidencia oficial = alerta accionable y defendible.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 DE 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es verificable — IA de apoyo, no caja negra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Procedencia en cada respuesta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4871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Fuente · ID del dataset · Municipio · N.º de registros · Última fecha · Consultado (fecha/hora)   —   distintivo “IA de apoyo, verificable”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4747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04672" y="374904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36027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 datos reales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95935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 obligan a responder únicamente con los datos entregados; si no alcanzan, lo declara.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347472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73952" y="374904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73952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23760" y="36027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verificar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23760" y="395935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responde solo con información verificable y avisa cuando no tiene datos suficientes; nadie puede inventar resultados sin que se note.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75488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4672" y="502920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4672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54480" y="4882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identificación individual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54480" y="523951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visión clasifica acciones, no personas. Sin biometría facial.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75488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73952" y="5029200"/>
            <a:ext cx="548640" cy="54864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73952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23760" y="4882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23760" y="523951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alertas apoyan la decisión; la decisión final siempre la toma una persona responsable.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 Y ÉTICA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 dentro del marco normativo colombiano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84248"/>
            <a:ext cx="512064" cy="512064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1508760" y="189280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1712 de 2014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y Acceso a la Información Pública — sustenta los portales de datos abiertos (datos.gov.co).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7240" y="3008376"/>
            <a:ext cx="512064" cy="512064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1581 de 2012 · 1266 de 2008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264408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personales y Habeas Data — tratamiento responsable de la información.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831336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77240" y="4032504"/>
            <a:ext cx="512064" cy="512064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17" name="Text 15"/>
          <p:cNvSpPr/>
          <p:nvPr/>
        </p:nvSpPr>
        <p:spPr>
          <a:xfrm>
            <a:off x="1508760" y="394106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CONPES 3975 de 2019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4288536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Nacional para la Transformación Digital e IA — uso responsable e innovación. Se suma el Decreto 768 de 2025 (videovigilancia en Propiedad Horizontal), relevante para el hurto a residencias.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55464"/>
            <a:ext cx="76809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5056632"/>
            <a:ext cx="512064" cy="512064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50566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1508760" y="496519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Externa SIC 002 de 2024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5312664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en sistemas de IA: idoneidad, necesidad, razonabilidad y proporcionalidad.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1783080"/>
            <a:ext cx="3108960" cy="4096512"/>
          </a:xfrm>
          <a:prstGeom prst="roundRect">
            <a:avLst>
              <a:gd name="adj" fmla="val 2647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732520" y="20116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compromiso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732520" y="2423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reconocimiento facial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732520" y="2971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identificación individual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73252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análisis agregado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732520" y="4069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Minimización de datos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732520" y="4617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total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732520" y="5166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Y ALCANCE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piloto a una herramienta nacional replicable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215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" y="19659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563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Pereira / Dosquebradas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PM2.5/PM10, predice y alerta a grupos vulnerables.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33672" y="1783080"/>
            <a:ext cx="350215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34840" y="19659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348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2272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Bogotá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462272" y="2926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cruce visión×SIEDCO para prevención y priorización.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783080"/>
            <a:ext cx="350215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19872" y="196596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19872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47304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Boyacá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147304" y="29260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Incendios históricos + sensor de campo para alerta temprana.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85800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abiertos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346704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46704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3483864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modalidades hurto×visión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44768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44768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6281928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ciudadana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42832" y="420624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942832" y="43434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9079992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requeridas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de piloto validado a cobertura nacional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90472" y="2331720"/>
            <a:ext cx="768096" cy="768096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90472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8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validado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datasets, sensor real, IA multi-agente, visión×SIEDCO.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0" y="3611880"/>
            <a:ext cx="292608" cy="0"/>
          </a:xfrm>
          <a:prstGeom prst="line">
            <a:avLst/>
          </a:prstGeom>
          <a:noFill/>
          <a:ln w="19050">
            <a:solidFill>
              <a:srgbClr val="7B87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93008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34840" y="2331720"/>
            <a:ext cx="768096" cy="768096"/>
          </a:xfrm>
          <a:prstGeom prst="ellipse">
            <a:avLst/>
          </a:prstGeom>
          <a:solidFill>
            <a:srgbClr val="2563AB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34840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3493008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territorio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75888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municipios y datasets = una entrada en configuración.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44768" y="3611880"/>
            <a:ext cx="292608" cy="0"/>
          </a:xfrm>
          <a:prstGeom prst="line">
            <a:avLst/>
          </a:prstGeom>
          <a:noFill/>
          <a:ln w="19050">
            <a:solidFill>
              <a:srgbClr val="7B87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37376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79208" y="2331720"/>
            <a:ext cx="768096" cy="768096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79208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80" dirty="0"/>
          </a:p>
        </p:txBody>
      </p:sp>
      <p:sp>
        <p:nvSpPr>
          <p:cNvPr id="21" name="Text 19"/>
          <p:cNvSpPr/>
          <p:nvPr/>
        </p:nvSpPr>
        <p:spPr>
          <a:xfrm>
            <a:off x="6437376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74536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sensores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0256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drones/sensores por device_id; más variables.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89136" y="3611880"/>
            <a:ext cx="292608" cy="0"/>
          </a:xfrm>
          <a:prstGeom prst="line">
            <a:avLst/>
          </a:prstGeom>
          <a:noFill/>
          <a:ln w="19050">
            <a:solidFill>
              <a:srgbClr val="7B879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381744" y="2103120"/>
            <a:ext cx="2651760" cy="30175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323576" y="2331720"/>
            <a:ext cx="768096" cy="768096"/>
          </a:xfrm>
          <a:prstGeom prst="ellipse">
            <a:avLst/>
          </a:prstGeom>
          <a:solidFill>
            <a:srgbClr val="F39C12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323576" y="2331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80" dirty="0"/>
          </a:p>
        </p:txBody>
      </p:sp>
      <p:sp>
        <p:nvSpPr>
          <p:cNvPr id="28" name="Text 26"/>
          <p:cNvSpPr/>
          <p:nvPr/>
        </p:nvSpPr>
        <p:spPr>
          <a:xfrm>
            <a:off x="9381744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18904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nacional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564624" y="40233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entidades y alertas ciudadanas masivas.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80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técnico, cloud/IA y jurídico-público — una combinación hecha para govtech.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463040" y="1965960"/>
            <a:ext cx="1737360" cy="1737360"/>
          </a:xfrm>
          <a:prstGeom prst="ellipse">
            <a:avLst/>
          </a:prstGeom>
          <a:solidFill>
            <a:srgbClr val="F4F6F9"/>
          </a:solidFill>
          <a:ln w="254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630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Andrés Santos Vidales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97280" y="449884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4498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Proyecto, IA &amp; Cloud · Visión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983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Cloud Engineer — Oracle · MIT. Modelo de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(TSN) 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linkedin.com/in/nasv01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257800" y="1965960"/>
            <a:ext cx="1737360" cy="1737360"/>
          </a:xfrm>
          <a:prstGeom prst="ellipse">
            <a:avLst/>
          </a:prstGeom>
          <a:solidFill>
            <a:srgbClr val="F4F6F9"/>
          </a:solidFill>
          <a:ln w="254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2578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Ángela Mariana Martínez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4892040" y="449884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92040" y="4498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50" b="1" dirty="0" err="1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Regulación</a:t>
            </a:r>
            <a:r>
              <a:rPr lang="en-US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Gestión Pública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17720" y="4983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Periodista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Gestión Pública. Marco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normativo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</a:t>
            </a:r>
            <a:r>
              <a:rPr lang="en-US" sz="1050" dirty="0" err="1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angelmarianamar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052560" y="1965960"/>
            <a:ext cx="1737360" cy="1737360"/>
          </a:xfrm>
          <a:prstGeom prst="ellipse">
            <a:avLst/>
          </a:prstGeom>
          <a:solidFill>
            <a:srgbClr val="F4F6F9"/>
          </a:solidFill>
          <a:ln w="254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0525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66760" y="3840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Andrés Mauricio Nova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686800" y="449884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86800" y="4498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CO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150" b="1" dirty="0" err="1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</a:t>
            </a:r>
            <a:r>
              <a:rPr lang="en-US" sz="115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412480" y="4983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Ing. de Sistemas (18+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transformación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digital.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6676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dirty="0">
                <a:solidFill>
                  <a:srgbClr val="256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linkedin.com/in/andres-nova-f</a:t>
            </a:r>
            <a:endParaRPr lang="en-US" sz="10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1B1E32B-8993-3E28-DDC0-42656725D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080" y="1856232"/>
            <a:ext cx="1965960" cy="196596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2C69B60-AB55-EAFF-0F2E-E4432033B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9304" y="1906524"/>
            <a:ext cx="1993392" cy="199339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1808F89-7A22-04A9-026D-78A5E551A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1856232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E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572000" cy="4572000"/>
          </a:xfrm>
          <a:prstGeom prst="ellipse">
            <a:avLst/>
          </a:prstGeom>
          <a:solidFill>
            <a:srgbClr val="1DB87F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3209544" cy="111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90" b="1" kern="0" spc="-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</a:t>
            </a:r>
            <a:r>
              <a:rPr lang="en-US" sz="7290" b="1" kern="0" spc="-100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729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abiertos + IA responsable = decisiones que protegen a Colombia.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448056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2213F"/>
          </a:solidFill>
          <a:ln w="127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45902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919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github.com/iandresnovaf/vigia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448056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2213F"/>
          </a:solidFill>
          <a:ln w="127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26280" y="45902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visión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26280" y="4919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xbmpkywc5iisxlzxmwvfsc.streamlit.app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46720" y="448056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2213F"/>
          </a:solidFill>
          <a:ln w="12700">
            <a:solidFill>
              <a:srgbClr val="1DB8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75320" y="45902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/ Video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9194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(enlaces del equipo)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80 · Néstor Santos · Ángela Mariana Martínez · Andrés Nova    —    ¡Gracias!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DATOS ABIERTOS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11 datasets de datos.gov.co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4169664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(4x4)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CVC Risaralda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53gx-j5pc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Pereira, Dosquebradas, La Virginia, Santa Rosa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IDEAM Nacional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g4t8-zkc3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(PM10, PM2.5, SO₂, NO₂, O₃)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SVCA PM10/PM2.5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yspz-pxxn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Caldas y Risaralda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Duitama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aghd-ge2f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Duitama (Boyacá)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Incendios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CORPOBOYACÁ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ryr5-rs2a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Boyacá — cobertura vegetal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Normales IDEAM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nsz2-kzcq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(1961–2010)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Personas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4rxi-8m8d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Comercio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7i2x-h5vp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Residencias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7mn7-vzqp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Homicidios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m8fd-ahd9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Lesiones Personales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jr6v-i33g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(SIEDCO)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METODOLOGÍA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CRISP-ML(Q): del negocio al despliegue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9659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Comprensión del negocio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 sin acceso a datos ambientales/seguridad a tiempo.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73952" y="19659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73952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69480" y="1828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Comprensión de datos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269480" y="22128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datasets evaluados; 11 integrados, resto descartados con razón.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" y="33375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" y="3337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0020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600200" y="35844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long/wide, filtro de outliers, integración multi-fuente.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30175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73952" y="33375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73952" y="3337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69480" y="3200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269480" y="35844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 estadística + reglas + multi-agente + visión (TSN).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3891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4672" y="47091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709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00200" y="4572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600200" y="49560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(MAE/RMSE/MAPE); APIs verificadas; chat probado.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438912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473952" y="4709160"/>
            <a:ext cx="594360" cy="594360"/>
          </a:xfrm>
          <a:prstGeom prst="ellipse">
            <a:avLst/>
          </a:prstGeom>
          <a:solidFill>
            <a:srgbClr val="12A36A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73952" y="4709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269480" y="4572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7269480" y="495604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web + sensor IoT en campo + microservicio de visión.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RIGOR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calcula la predicción (reproducible)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1892808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508760" y="181965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diaria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Agregación por día de los datos oficiales, con filtro de outliers (src/Analitica.php).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971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60" dirty="0"/>
          </a:p>
        </p:txBody>
      </p:sp>
      <p:sp>
        <p:nvSpPr>
          <p:cNvPr id="14" name="Text 12"/>
          <p:cNvSpPr/>
          <p:nvPr/>
        </p:nvSpPr>
        <p:spPr>
          <a:xfrm>
            <a:off x="1508760" y="28986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32461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Mínimos cuadrados sobre el índice temporal → pendiente, intercepto y R².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7240" y="4050792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0507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60" dirty="0"/>
          </a:p>
        </p:txBody>
      </p:sp>
      <p:sp>
        <p:nvSpPr>
          <p:cNvPr id="19" name="Text 17"/>
          <p:cNvSpPr/>
          <p:nvPr/>
        </p:nvSpPr>
        <p:spPr>
          <a:xfrm>
            <a:off x="1508760" y="39776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de confianza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08760" y="43251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±1.96·σ de los residuos → intervalo del 95% alrededor del pronóstico.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928616"/>
            <a:ext cx="685800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77240" y="5129784"/>
            <a:ext cx="530352" cy="530352"/>
          </a:xfrm>
          <a:prstGeom prst="ellipse">
            <a:avLst/>
          </a:prstGeom>
          <a:solidFill>
            <a:srgbClr val="1A2E5C"/>
          </a:solidFill>
          <a:ln/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51297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60" dirty="0"/>
          </a:p>
        </p:txBody>
      </p:sp>
      <p:sp>
        <p:nvSpPr>
          <p:cNvPr id="24" name="Text 22"/>
          <p:cNvSpPr/>
          <p:nvPr/>
        </p:nvSpPr>
        <p:spPr>
          <a:xfrm>
            <a:off x="1508760" y="50566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540410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reservan las últimas 7 observaciones y se comparan → MAE, RMSE, MAPE.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80960" y="1691640"/>
            <a:ext cx="3931920" cy="4206240"/>
          </a:xfrm>
          <a:prstGeom prst="roundRect">
            <a:avLst>
              <a:gd name="adj" fmla="val 2093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909560" y="1920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— Pereira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90956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· 170 días de serie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0956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418320" y="2788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09560" y="3355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418320" y="33558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 (serie plana)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09560" y="392277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418320" y="392277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9.3 %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909560" y="448970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418320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909560" y="50566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418320" y="505663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multi-agente en detalle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llamadas en cadena — separación de responsabilidades para mejor precisión.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4480560" cy="1828800"/>
          </a:xfrm>
          <a:prstGeom prst="roundRect">
            <a:avLst>
              <a:gd name="adj" fmla="val 4000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Agente Clasificador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la pregunta ciudadana y responde SOLO JSON: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{dominio, necesita_datos, parametro}. Enruta al especialista correcto.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74920" y="3017520"/>
            <a:ext cx="548640" cy="0"/>
          </a:xfrm>
          <a:prstGeom prst="line">
            <a:avLst/>
          </a:prstGeom>
          <a:noFill/>
          <a:ln w="38100">
            <a:solidFill>
              <a:srgbClr val="12A36A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715000" y="2103120"/>
            <a:ext cx="5897880" cy="1828800"/>
          </a:xfrm>
          <a:prstGeom prst="roundRect">
            <a:avLst>
              <a:gd name="adj" fmla="val 4000"/>
            </a:avLst>
          </a:prstGeom>
          <a:solidFill>
            <a:srgbClr val="12A36A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97880" y="224028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Agente Especialista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97880" y="2651760"/>
            <a:ext cx="5532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los datos ya consultados (Socrata), responde en lenguaje ciudadano según el dominio: Ambiental, Seguridad, Predictor, Simulador o VigIA. Cada “agente” es un módulo de software especializado en el sistema — no una persona ni una empresa contratada.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43708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tarea en api/llm.php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(NLG)   ·   </a:t>
            </a: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(regla determinística)   ·   </a:t>
            </a: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(estadística + métricas)   ·   </a:t>
            </a:r>
            <a:r>
              <a:rPr lang="en-US" sz="13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recomendar</a:t>
            </a: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(3 acciones por municipio)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 · HARDWARE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IoT real e ingesta de datos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0352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 desplegado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ESP8266 (Wi-Fi) + sensor de gas MQ2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horaria NTP (zona Bogotá)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474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por HTTPS POST a endpoint propio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URL-encoded: municipio, estación, parámetro, fecha, medición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5029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lista para cualquier dron/sensor vía endpoint JSON configurable.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169164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A2E5C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5508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caminos de integración de visión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237744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(webhook):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automática del evento: el modelo de IA analiza el video, clasifica el tipo de evento y VigIA lo valida cruzándolo con las cifras oficiales de SIEDCO.
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(microservicio):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ai-service (FastAPI) envuelve el modelo TSN; VigIA sube el video y recibe la clasificación.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 · VISIÓN POR COMPUTADOR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TSN y mapeo a modalidades SIEDCO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292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TSN (Temporal Segment Network) + ResNet-50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MMAction2 (PyTorch)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video; salida: scores por clase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9776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Niveles: hurto / riesgo / normal + alerta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83080"/>
          <a:ext cx="5669280" cy="30175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 (visión)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Modalidad SIEDCO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Robbery / Stealing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personas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4rxi-8m8d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Shoplifting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comercio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7i2x-h5vp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Burglary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Hurto a residencias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7mn7-vzqp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Fighting / Assault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Lesiones personales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jr6v-i33g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Shooting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Homicidio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m8fd-ahd9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A2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057400" y="429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 · FICHA TÉCNICA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repositorio y cumplimiento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PHP 8.2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8163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BD: MySQL / MariaDB 11.4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3009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HTML5 + jQuery + Chart.js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78561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Datos: Socrata SODA (datos.gov.co)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270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IA/LLM: multi-proveedor (6 opciones)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7548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TSN / MMAction2 (Python)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52395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IoT: ESP8266 + MQ2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E8F7F0"/>
          </a:solidFill>
          <a:ln w="12700">
            <a:solidFill>
              <a:srgbClr val="E1E6EC"/>
            </a:solidFill>
            <a:prstDash val="solid"/>
          </a:ln>
          <a:effectLst>
            <a:outerShdw blurRad="88900" dist="38100" dir="5400000" algn="bl" rotWithShape="0">
              <a:srgbClr val="1A2E5C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A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y entregables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MIT (código abierto).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30175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secretos en el repositorio.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65760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personales: solo fuentes oficiales ya anonimizadas.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429768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de apoyo con revisión humana.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49377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Repositorio, documentación (CRISP-ML, datasets, ética) y modo jurado incluidos.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VigIA · Equipo 80 — Concurso Datos al Ecosistema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</TotalTime>
  <Words>3233</Words>
  <Application>Microsoft Office PowerPoint</Application>
  <PresentationFormat>Widescreen</PresentationFormat>
  <Paragraphs>444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VigIA — IA para Colombia</dc:title>
  <dc:subject>PptxGenJS Presentation</dc:subject>
  <dc:creator>Equipo 80 — VigIA</dc:creator>
  <cp:lastModifiedBy>Andrés Nova</cp:lastModifiedBy>
  <cp:revision>2</cp:revision>
  <dcterms:created xsi:type="dcterms:W3CDTF">2026-07-11T05:06:20Z</dcterms:created>
  <dcterms:modified xsi:type="dcterms:W3CDTF">2026-07-11T17:55:18Z</dcterms:modified>
</cp:coreProperties>
</file>