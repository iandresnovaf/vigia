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7" r:id="rId2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5C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1A2E5C"/>
                </a:solidFill>
                <a:latin typeface="Arial"/>
              </a:rPr>
              <a:t>Serie histórica + pronóstico 7 días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 (PM2.5)</c:v>
                </c:pt>
              </c:strCache>
            </c:strRef>
          </c:tx>
          <c:spPr>
            <a:ln w="38100" cap="flat">
              <a:solidFill>
                <a:srgbClr val="2563A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563AB"/>
              </a:solidFill>
              <a:ln w="9525" cap="flat">
                <a:solidFill>
                  <a:srgbClr val="2563A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+1</c:v>
                </c:pt>
                <c:pt idx="9">
                  <c:v>+2</c:v>
                </c:pt>
                <c:pt idx="10">
                  <c:v>+3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</c:v>
                </c:pt>
                <c:pt idx="1">
                  <c:v>26</c:v>
                </c:pt>
                <c:pt idx="2">
                  <c:v>24</c:v>
                </c:pt>
                <c:pt idx="3">
                  <c:v>28</c:v>
                </c:pt>
                <c:pt idx="4">
                  <c:v>27</c:v>
                </c:pt>
                <c:pt idx="5">
                  <c:v>31</c:v>
                </c:pt>
                <c:pt idx="6">
                  <c:v>29</c:v>
                </c:pt>
                <c:pt idx="7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85-46A6-9B95-799D37D282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Predicción 7d</c:v>
                </c:pt>
              </c:strCache>
            </c:strRef>
          </c:tx>
          <c:spPr>
            <a:ln w="381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+1</c:v>
                </c:pt>
                <c:pt idx="9">
                  <c:v>+2</c:v>
                </c:pt>
                <c:pt idx="10">
                  <c:v>+3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7">
                  <c:v>33</c:v>
                </c:pt>
                <c:pt idx="8">
                  <c:v>34.5</c:v>
                </c:pt>
                <c:pt idx="9">
                  <c:v>36</c:v>
                </c:pt>
                <c:pt idx="10">
                  <c:v>37.5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85-46A6-9B95-799D37D282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E5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57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Buenos días. Somos el Equipo 80 y presentamos VigIA: inteligencia artificial que vigila, protege y cuida el entorno de los colombianos. Convertimos datos abiertos del Estado, sensores en campo e IA en información que cualquier ciudadano entiende y puede verificar.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[0:20–0:50] El problema no es falta de datos: es que están fragmentados, son técnicos y llegan tarde. Cuando hay un incendio, un pico de contaminación o de hurtos, el ciudadano se entera cuando ya ocurrió. Colombia publica los datos, pero no llegan a quien los necesita, cuando los necesita.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[0:50–1:20] VigIA une tres cosas en un solo lugar: datos abiertos oficiales en vivo, un sensor IoT real en campo, y un sistema de inteligencia artificial que traduce todo a lenguaje ciudadano. El ciudadano obtiene interpretación, predicción, recomendaciones y alertas — verificables — en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[1:20–1:55] Usamos once datasets de datos.gov.co consultados en vivo por la API Socrata: cuatro de calidad del aire, uno de incendios, uno de clima y cinco de seguridad del SIEDCO — incluyendo hurto a personas, comercio y residencias. A eso sumamos un sensor IoT real, un ESP8266 con sensor MQ2, desplegado y enviando datos de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[1:55–2:25] La arquitectura es una tubería clara: las fuentes alimentan un backend en PHP que consulta, normaliza y analiza; de ahí pasa al sistema multi-agente y a la base de datos; y finalmente al frontend con paneles y chat. Cada paso deja trazabilidad: de qué dataset, qué municipio y qué fecha salió cada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[2:25–2:55] El corazón de la IA es un sistema multi-agente. Un Agente Clasificador entiende la pregunta y decide qué datos traer; luego enruta a un especialista: ambiental, seguridad, predictor, simulador o el agente general. Y es multi-proveedor: funciona con Kimi, OpenAI, Gemini, Claude o cualquier modelo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[2:55–3:30] Este es nuestro diferenciador. La predicción a 7 días NO la inventa un modelo de lenguaje: la calcula un módulo estadístico —regresión lineal con banda de confianza y backtesting— que reporta R², MAE, RMSE y MAPE reales. Las alertas son reglas determinísticas auditables. El LLM solo explica el resultado. Y todo esto funciona incluso sin API key. Eso nos blinda ante la pregunta '¿y esto no es una alucinación?'.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[3:30–4:00] La innovación que nos distingue: un modelo de visión por computador, entrenado por nuestro equipo, detecta eventos de hurto en video y los cruza con la estadística oficial del SIEDCO por municipio. Así una detección en vivo no queda aislada: se contextualiza con la cifra real del territorio. Detección más evidencia oficial igual a alerta accionable y defendible.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[4:00–4:20] Para un jurado técnico, IA no puede ser una caja negra. Por eso cada respuesta muestra su procedencia: de qué dataset, qué municipio, cuántos registros y de qué fecha. La analítica es auditable, la visión clasifica acciones y no personas, y toda alerta pasa por revisión humana. Es IA de apoyo,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[4:20–4:40] VigIA se construye dentro del marco normativo colombiano: la Ley 1712 de transparencia, que sustenta los datos abiertos; la Ley 1581 y 1266 de protección de datos; el CONPES 3975 de inteligencia artificial; y la reciente Circular 002 de 2024 de la SIC sobre datos en sistemas de IA. Nuestro compromiso: sin reconocimiento facial, solo análisis agregado y revisión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[4:40–5:00] El impacto es concreto y medible. En Pereira traducimos y predecimos calidad del aire; en Bogotá cruzamos hurtos con visión; en Boyacá anticipamos incendios. Once datasets integrados, tres modalidades de hurto cruzadas, consulta ciudadana en segundos, y funciona sin ninguna API key. Es replicable a cualquier municipio configurando una fuente. Gracias — VigIA: datos que protegen.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apoyo (roadmap). La arquitectura ya es escalable: añadir un dataset o un municipio es configuración, no reingeniería. El camino va de piloto validado a red de sensores y plataforma nacional integrada con entidades.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Equipo 80: Andrés Nova, líder de proyecto y gerente de tecnología e innovación con 18 años; Néstor Santos, AI Cloud Engineer de Oracle formado en MIT, autor del modelo de visión; y Ángela Mariana Martínez, abogada y especialista en gestión pública que garantiza el cumplimiento normativo. Técnica, cloud/IA y jurídico-pública: una combinación hecha para govtech.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VigIA: datos abiertos más IA responsable igual a decisiones que protegen a Colombia. Repositorio, modelo y demo disponibles. Gracias —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A1 — catálogo completo de los 11 datasets con IDs de recurso. Todos consultados en vivo por API Socrata SODA.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A2 — seguimos CRISP-ML(Q), el estándar de proyectos de machine learning con aseguramiento de calidad, en sus seis fases.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A3 — el detalle metodológico de la predicción, reproducible en src/Analitica.php, con un ejemplo real sobre 170 días de datos de Pereira.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A4 — el pipeline multi-agente son dos llamadas en cadena: un clasificador que enruta y un especialista que responde con los datos ya consultados. Cuatro tipos de tarea, cada uno con su 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A5 — el hardware: un ESP8266 con sensor MQ2 que envía por HTTPS a nuestro endpoint. La visión se integra de dos formas: webhook (push) o microservicio (pull).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A6 — el modelo de visión es una TSN sobre MMAction2. Cada clase detectada se mapea a su modalidad de hurto SIEDCO y a su dataset, que es lo que permite el cruce con la estadística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A7 — ficha técnica del stack y del cumplimiento: código abierto MIT, sin secretos, solo fuentes oficiales anonimizadas, IA con revisión humana, y documentación completa incluida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21040" y="-2011680"/>
            <a:ext cx="4754880" cy="4754880"/>
          </a:xfrm>
          <a:prstGeom prst="ellipse">
            <a:avLst/>
          </a:prstGeom>
          <a:solidFill>
            <a:srgbClr val="1DB87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3291840"/>
            <a:ext cx="3108960" cy="3108960"/>
          </a:xfrm>
          <a:prstGeom prst="ellipse">
            <a:avLst/>
          </a:prstGeom>
          <a:solidFill>
            <a:srgbClr val="2563A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</a:t>
            </a:r>
            <a:r>
              <a:rPr lang="en-US" sz="8100" b="1" kern="0" spc="-100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que VIGILA, PROTEGE y CUIDA tu entorno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394960" cy="457200"/>
          </a:xfrm>
          <a:prstGeom prst="roundRect">
            <a:avLst>
              <a:gd name="adj" fmla="val 48000"/>
            </a:avLst>
          </a:prstGeom>
          <a:solidFill>
            <a:srgbClr val="1DB8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Datos al Ecosistema 2026 · IA para Colombia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80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Néstor Santos  ·  Ángela Mariana Martínez  ·  Andrés Nova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existen, pero el ciudadano no los entiende a tiempo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2011680"/>
            <a:ext cx="594360" cy="59436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901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Fragmentados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datasets técnicos dispersos en portales oficiales.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3337560"/>
            <a:ext cx="594360" cy="594360"/>
          </a:xfrm>
          <a:prstGeom prst="ellipse">
            <a:avLst/>
          </a:prstGeom>
          <a:solidFill>
            <a:srgbClr val="2563AB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27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Incomprensibles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611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SIEDCO… cifras sin traducción para la gente.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663440"/>
            <a:ext cx="594360" cy="594360"/>
          </a:xfrm>
          <a:prstGeom prst="ellipse">
            <a:avLst/>
          </a:prstGeom>
          <a:solidFill>
            <a:srgbClr val="F39C12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4553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937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Incendios, contaminación o inseguridad se conocen cuando ya pasó.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1737360"/>
            <a:ext cx="4206240" cy="3977640"/>
          </a:xfrm>
          <a:prstGeom prst="roundRect">
            <a:avLst>
              <a:gd name="adj" fmla="val 2069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3524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2377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ciudadanas y públicas se toman sin la información que el país ya tiene publicada.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3524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7635240" y="43434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compiten por resolver retos reales con datos abiertos — el nuestro los vuelve accionables.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VigIA: un solo lugar donde los datos se vuelven decisiones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109728"/>
          </a:xfrm>
          <a:prstGeom prst="roundRect">
            <a:avLst>
              <a:gd name="adj" fmla="val 41667"/>
            </a:avLst>
          </a:prstGeom>
          <a:solidFill>
            <a:srgbClr val="2563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datasets de datos.gov.co en vivo (API Socrata SODA).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33672" y="1783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33672" y="1783080"/>
            <a:ext cx="3502152" cy="109728"/>
          </a:xfrm>
          <a:prstGeom prst="roundRect">
            <a:avLst>
              <a:gd name="adj" fmla="val 41667"/>
            </a:avLst>
          </a:prstGeom>
          <a:solidFill>
            <a:srgbClr val="12A3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2272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IoT real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62272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+ MQ2 desplegado, midiendo en campo por API.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18704" y="1783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1783080"/>
            <a:ext cx="3502152" cy="109728"/>
          </a:xfrm>
          <a:prstGeom prst="roundRect">
            <a:avLst>
              <a:gd name="adj" fmla="val 41667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47304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multi-agente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7304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Interpreta, predice, recomienda y responde en lenguaje ciudadano.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con IA · Predicción a 7 días con métricas · Recomendaciones por municipio · Chat multi-agente · Alertas · Detección de hurto por visión cruzada con SIEDCO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datasets de datos.gov.co + un sensor IoT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2563AB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Aire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4048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Risaralda, IDEAM, SVCA, Duitama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777240" cy="777240"/>
          </a:xfrm>
          <a:prstGeom prst="ellipse">
            <a:avLst/>
          </a:prstGeom>
          <a:solidFill>
            <a:srgbClr val="F39C12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980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4048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CORPOBOYACÁ — cobertura vegetal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777240" cy="77724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2880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0050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 climatológicas IDEAM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703320"/>
            <a:ext cx="777240" cy="777240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9808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(SIEDCO)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40050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 personas / comercio / residencias, homicidios, lesiones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1DB87F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5212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5138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IoT real desplegado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+ MQ2 → envía mediciones de campo por API (piloto real). Fuente principal de ruido y aire local.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fuente al ciudadano, en una tubería verificable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2563AB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75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datos.gov.co (Socrata) + Sensor IoT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94760" y="1965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0" y="2075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 8.2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31920" y="2423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Socrata · Dron · Analítica · Alertas · Cruce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40880" y="1965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2A36A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075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78040" y="2423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→ Especialista + LLM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37947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0" y="4251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· eventos · config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37947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78040" y="4251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+ Chart.js · paneles + chat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606040"/>
            <a:ext cx="502920" cy="0"/>
          </a:xfrm>
          <a:prstGeom prst="line">
            <a:avLst/>
          </a:prstGeom>
          <a:noFill/>
          <a:ln w="28575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2606040"/>
            <a:ext cx="502920" cy="0"/>
          </a:xfrm>
          <a:prstGeom prst="line">
            <a:avLst/>
          </a:prstGeom>
          <a:noFill/>
          <a:ln w="28575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6360" y="3246120"/>
            <a:ext cx="0" cy="548640"/>
          </a:xfrm>
          <a:prstGeom prst="line">
            <a:avLst/>
          </a:prstGeom>
          <a:noFill/>
          <a:ln w="28575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37960" y="4361688"/>
            <a:ext cx="502920" cy="0"/>
          </a:xfrm>
          <a:prstGeom prst="line">
            <a:avLst/>
          </a:prstGeom>
          <a:noFill/>
          <a:ln w="28575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12680" y="1965960"/>
            <a:ext cx="1600200" cy="2971800"/>
          </a:xfrm>
          <a:prstGeom prst="roundRect">
            <a:avLst>
              <a:gd name="adj" fmla="val 5143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95560" y="2194560"/>
            <a:ext cx="1280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registra procedencia: dataset, ID, municipio, registros y fecha.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multi-agente: el dato correcto, el agente correcto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dominio + si necesita datos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2697480"/>
            <a:ext cx="457200" cy="0"/>
          </a:xfrm>
          <a:prstGeom prst="line">
            <a:avLst/>
          </a:prstGeom>
          <a:noFill/>
          <a:ln w="28575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49040" y="1600200"/>
            <a:ext cx="28346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2A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95344" y="1746504"/>
            <a:ext cx="365760" cy="365760"/>
          </a:xfrm>
          <a:prstGeom prst="ellipse">
            <a:avLst/>
          </a:prstGeom>
          <a:solidFill>
            <a:srgbClr val="12A3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16184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Ambiental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2423160"/>
            <a:ext cx="28346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95344" y="2569464"/>
            <a:ext cx="365760" cy="365760"/>
          </a:xfrm>
          <a:prstGeom prst="ellipse">
            <a:avLst/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Seguridad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3246120"/>
            <a:ext cx="28346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95344" y="3392424"/>
            <a:ext cx="365760" cy="365760"/>
          </a:xfrm>
          <a:prstGeom prst="ellipse">
            <a:avLst/>
          </a:prstGeom>
          <a:solidFill>
            <a:srgbClr val="2563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34840" y="326440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Predictor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4069080"/>
            <a:ext cx="28346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95344" y="4215384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34840" y="40873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Simulador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49040" y="4892040"/>
            <a:ext cx="28346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95344" y="5038344"/>
            <a:ext cx="365760" cy="365760"/>
          </a:xfrm>
          <a:prstGeom prst="ellipse">
            <a:avLst/>
          </a:prstGeom>
          <a:solidFill>
            <a:srgbClr val="1DB8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34840" y="49103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VigIA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89720" y="1600200"/>
            <a:ext cx="2423160" cy="4160520"/>
          </a:xfrm>
          <a:prstGeom prst="roundRect">
            <a:avLst>
              <a:gd name="adj" fmla="val 3396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7260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api/llm.php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2194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72600" y="2578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(regla)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72600" y="29626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(estadística)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72600" y="3346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7260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Multi-proveedor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72600" y="422452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· OpenAI · OpenRouter · Gemini · Claude · Custom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TÉCNICO — NUESTRO DIFERENCIADOR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es estadística, no la inventa un LLM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126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1051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49440" y="186537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49440" y="2395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107985" y="1783080"/>
            <a:ext cx="1051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07985" y="186537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107985" y="2395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66530" y="1783080"/>
            <a:ext cx="1051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66530" y="186537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266530" y="2395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425074" y="1783080"/>
            <a:ext cx="1051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425074" y="186537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425074" y="2395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49440" y="2971800"/>
            <a:ext cx="4544568" cy="2514600"/>
          </a:xfrm>
          <a:prstGeom prst="roundRect">
            <a:avLst>
              <a:gd name="adj" fmla="val 3273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7804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178040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por mínimos cuadrados + backtesting (MAE/RMSE/MAPE).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7804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reglas determinísticas auditables (OMS).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78040" y="4462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solo explica; nunca inventa cifras.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178040" y="4919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incluso SIN API key de LLM.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por computador cruzada con la estadística oficial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931920"/>
          </a:xfrm>
          <a:prstGeom prst="roundRect">
            <a:avLst>
              <a:gd name="adj" fmla="val 2093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visión (TSN · MMAction2)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eventos en video: hurto (robbery, stealing, shoplifting, burglary) y riesgo, con nivel de alerta.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por el equipo · integrado por webhook y microservicio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4663440" cy="0"/>
          </a:xfrm>
          <a:prstGeom prst="line">
            <a:avLst/>
          </a:prstGeom>
          <a:noFill/>
          <a:ln w="12700">
            <a:solidFill>
              <a:srgbClr val="3A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Shoplifting →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 a comercio
</a:t>
            </a:r>
            <a:r>
              <a:rPr lang="en-US" sz="1250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Burglary →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 a residencias
</a:t>
            </a:r>
            <a:r>
              <a:rPr lang="en-US" sz="1250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Robbery →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 a personas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3749040"/>
            <a:ext cx="640080" cy="0"/>
          </a:xfrm>
          <a:prstGeom prst="line">
            <a:avLst/>
          </a:prstGeom>
          <a:noFill/>
          <a:ln w="38100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512064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con SIEDCO (datos.gov.co)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en vivo se contextualiza con la estadística oficial del municipio: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3200400"/>
            <a:ext cx="4572000" cy="2331720"/>
          </a:xfrm>
          <a:prstGeom prst="roundRect">
            <a:avLst>
              <a:gd name="adj" fmla="val 3529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“Detección: hurto a comercio en Bogotá”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3840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SIEDCO registra N casos de hurto a comercio en el municipio en los últimos 90 días, con tendencia a la baja.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4892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en tiempo real + evidencia oficial = alerta accionable y defendible.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es verificable — IA de apoyo, no caja negra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 en cada respuesta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Fuente · ID del dataset · Municipio · N.º de registros · Última fecha · Consultado (fecha/hora)   —   distintivo “IA de apoyo, verificable”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3749040"/>
            <a:ext cx="548640" cy="54864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602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datos reales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prompts obligan a responder únicamente con los datos entregados; si no alcanzan, lo declara.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47472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73952" y="3749040"/>
            <a:ext cx="548640" cy="54864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3602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auditable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y alertas se calculan en código, reproducibles y con métricas.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" y="5029200"/>
            <a:ext cx="548640" cy="54864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4882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identificación individual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52395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clasifica acciones, no personas. Sin biometría facial.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5029200"/>
            <a:ext cx="548640" cy="54864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73952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4882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52395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son de apoyo; ninguna decisión es automática.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Y ÉTICA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dentro del marco normativo colombiano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680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84248"/>
            <a:ext cx="512064" cy="512064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1712 de 2014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y Acceso a la Información Pública — sustenta los portales de datos abiertos (datos.gov.co).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7680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008376"/>
            <a:ext cx="512064" cy="512064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1581 de 2012 · 1266 de 2008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personales y Habeas Data — tratamiento responsable de la información.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7680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032504"/>
            <a:ext cx="512064" cy="512064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032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508760" y="394106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CONPES 3975 de 2019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28853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Nacional para la Transformación Digital e IA — uso responsable e innovación.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7680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5056632"/>
            <a:ext cx="512064" cy="512064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508760" y="49651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Externa SIC 002 de 2024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312664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en sistemas de IA: idoneidad, necesidad, razonabilidad y proporcionalidad.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1783080"/>
            <a:ext cx="3108960" cy="4096512"/>
          </a:xfrm>
          <a:prstGeom prst="roundRect">
            <a:avLst>
              <a:gd name="adj" fmla="val 2647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325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compromiso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3252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reconocimiento facial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3252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identificación individual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325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análisis agregado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325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datos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3252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32520" y="5166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Y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piloto a una herramienta nacional replicable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9659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563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Pereira / Dosquebradas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PM2.5/PM10, predice y alerta a grupos vulnerables.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33672" y="178308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2272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62272" y="2926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cruce visión×SIEDCO para prevención y priorización.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8704" y="178308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19872" y="19659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9872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47304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Boyacá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47304" y="2926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 históricos + sensor de campo para alerta temprana.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abiertos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46704" y="42062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46704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483864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 hurto×visión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44768" y="42062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4768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281928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ciudadana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42832" y="42062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42832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079992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requeridas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de piloto validado a cobertura nacional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90472" y="2331720"/>
            <a:ext cx="768096" cy="768096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90472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validado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datasets, sensor real, IA multi-agente, visión×SIEDCO.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3611880"/>
            <a:ext cx="292608" cy="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93008" y="210312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768096" cy="768096"/>
          </a:xfrm>
          <a:prstGeom prst="ellipse">
            <a:avLst/>
          </a:prstGeom>
          <a:solidFill>
            <a:srgbClr val="2563AB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3493008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0168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territorio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75888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municipios y datasets = una entrada en configuración.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4768" y="3611880"/>
            <a:ext cx="292608" cy="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37376" y="210312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79208" y="2331720"/>
            <a:ext cx="768096" cy="768096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79208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6437376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74536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sensores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0256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drones/sensores por device_id; más variables.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89136" y="3611880"/>
            <a:ext cx="292608" cy="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381744" y="210312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323576" y="2331720"/>
            <a:ext cx="768096" cy="768096"/>
          </a:xfrm>
          <a:prstGeom prst="ellipse">
            <a:avLst/>
          </a:prstGeom>
          <a:solidFill>
            <a:srgbClr val="F39C12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23576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9381744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18904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nacional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64624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entidades y alertas ciudadanas masivas.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80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técnico, cloud/IA y jurídico-público — una combinación hecha para govtech.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1965960"/>
            <a:ext cx="1737360" cy="173736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Néstor Andrés Santos Vidales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97280" y="44988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4498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Proyecto, IA &amp; Cloud · Visión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Cloud Engineer — Oracle · MIT. Modelo de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(TSN) e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linkedin.com/in/nasv01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57800" y="1965960"/>
            <a:ext cx="1737360" cy="173736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Ángela Mariana Martínez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892040" y="44988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4498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 err="1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</a:t>
            </a:r>
            <a:r>
              <a:rPr lang="en-US" sz="115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Gestión Pública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Abogada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Periodista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Gestión Pública. Marco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</a:t>
            </a:r>
            <a:r>
              <a:rPr lang="en-US" sz="1050" dirty="0" err="1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angelmarianamar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1737360" cy="1737360"/>
          </a:xfrm>
          <a:prstGeom prst="ellipse">
            <a:avLst/>
          </a:prstGeom>
          <a:solidFill>
            <a:srgbClr val="F4F6F9"/>
          </a:solidFill>
          <a:ln w="2540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5256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Mauricio Nova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686800" y="44988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0" y="4498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5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150" b="1" dirty="0" err="1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r>
              <a:rPr lang="en-US" sz="115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Ing. de Sistemas (18+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linkedin.com/in/andres-nova-f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1B1E32B-8993-3E28-DDC0-42656725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1856232"/>
            <a:ext cx="1965960" cy="19659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2C69B60-AB55-EAFF-0F2E-E4432033B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304" y="1906524"/>
            <a:ext cx="1993392" cy="199339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1808F89-7A22-04A9-026D-78A5E551A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856232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1DB87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3209544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9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</a:t>
            </a:r>
            <a:r>
              <a:rPr lang="en-US" sz="7290" b="1" kern="0" spc="-100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729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+ IA responsable = decisiones que protegen a Colombia.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2213F"/>
          </a:solidFill>
          <a:ln w="1270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919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github.com/iandresnovaf/vigia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2213F"/>
          </a:solidFill>
          <a:ln w="1270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visión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4919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xbmpkywc5iisxlzxmwvfsc.streamlit.app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2213F"/>
          </a:solidFill>
          <a:ln w="12700">
            <a:solidFill>
              <a:srgbClr val="1DB8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Video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4919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(enlaces del equipo)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80 · Néstor Santos · Ángela Mariana Martínez · Andrés Nova    —    ¡Gracias!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DATOS ABIERTOS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11 datasets de datos.gov.co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696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(4x4)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 Risaralda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53gx-j5pc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Pereira, Dosquebradas, La Virginia, Santa Rosa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IDEAM Nacional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g4t8-zkc3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(PM10, PM2.5, SO₂, NO₂, O₃)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SVCA PM10/PM2.5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yspz-pxxn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Caldas y Risaralda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Duitama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aghd-ge2f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Duitama (Boyacá)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Incendios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CORPOBOYACÁ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ryr5-rs2a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Boyacá — cobertura vegetal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Normales IDEAM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nsz2-kzcq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(1961–2010)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Hurto a Personas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4rxi-8m8d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(SIEDCO)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Hurto a Comercio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7i2x-h5vp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(SIEDCO)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Hurto a Residencias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7mn7-vzqp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(SIEDCO)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Homicidios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m8fd-ahd9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(SIEDCO)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Lesiones Personales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jr6v-i33g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(SIEDCO)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METODOLOGÍA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CRISP-ML(Q): del negocio al despliegue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1965960"/>
            <a:ext cx="594360" cy="59436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negocio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00200" y="221284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sin acceso a datos ambientales/seguridad a tiempo.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73952" y="1965960"/>
            <a:ext cx="594360" cy="59436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73952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datos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69480" y="221284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datasets evaluados; 11 integrados, resto descartados con razón.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3337560"/>
            <a:ext cx="594360" cy="59436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600200" y="358444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long/wide, filtro de outliers, integración multi-fuente.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73952" y="3337560"/>
            <a:ext cx="594360" cy="59436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7395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9480" y="358444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estadística + reglas + multi-agente + visión (TSN).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4672" y="4709160"/>
            <a:ext cx="594360" cy="59436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0020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600200" y="495604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(MAE/RMSE/MAPE); APIs verificadas; chat probado.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3891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73952" y="4709160"/>
            <a:ext cx="594360" cy="594360"/>
          </a:xfrm>
          <a:prstGeom prst="ellipse">
            <a:avLst/>
          </a:prstGeom>
          <a:solidFill>
            <a:srgbClr val="12A36A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3952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948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269480" y="495604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+ sensor IoT en campo + microservicio de visión.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RIGOR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calcula la predicción (reproducible)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858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892808"/>
            <a:ext cx="530352" cy="530352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1508760" y="18196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diaria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1671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por día de los datos oficiales, con filtro de outliers (src/Analitica.php).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6858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530352" cy="530352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1508760" y="28986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46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cuadrados sobre el índice temporal → pendiente, intercepto y R².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6858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050792"/>
            <a:ext cx="530352" cy="530352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de confianza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3251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±1.96·σ de los residuos → intervalo del 95% alrededor del pronóstico.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28616"/>
            <a:ext cx="6858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5129784"/>
            <a:ext cx="530352" cy="530352"/>
          </a:xfrm>
          <a:prstGeom prst="ellipse">
            <a:avLst/>
          </a:prstGeom>
          <a:solidFill>
            <a:srgbClr val="1A2E5C"/>
          </a:solidFill>
          <a:ln/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1508760" y="50566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4041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reservan las últimas 7 observaciones y se comparan → MAE, RMSE, MAPE.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1691640"/>
            <a:ext cx="3931920" cy="4206240"/>
          </a:xfrm>
          <a:prstGeom prst="roundRect">
            <a:avLst>
              <a:gd name="adj" fmla="val 2093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Pereira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095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· 170 días de serie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0956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1832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09560" y="3355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18320" y="3355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(serie plana)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3922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418320" y="39227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09560" y="4489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418320" y="4489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909560" y="5056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418320" y="5056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multi-agente en detalle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llamadas en cadena — separación de responsabilidades para mejor precisión.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Agente Clasificador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pregunta ciudadana y responde SOLO JSON: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{dominio, necesita_datos, parametro}. Enruta al especialista correcto.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74920" y="3017520"/>
            <a:ext cx="548640" cy="0"/>
          </a:xfrm>
          <a:prstGeom prst="line">
            <a:avLst/>
          </a:prstGeom>
          <a:noFill/>
          <a:ln w="38100">
            <a:solidFill>
              <a:srgbClr val="12A3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0" y="2103120"/>
            <a:ext cx="5897880" cy="1828800"/>
          </a:xfrm>
          <a:prstGeom prst="roundRect">
            <a:avLst>
              <a:gd name="adj" fmla="val 4000"/>
            </a:avLst>
          </a:prstGeom>
          <a:solidFill>
            <a:srgbClr val="12A36A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22402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Agente Especialista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97880" y="2651760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datos ya consultados (Socrata), responde en lenguaje ciudadano según el dominio: Ambiental, Seguridad, Predictor, Simulador o VigIA.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tarea en api/llm.php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(NLG)   ·   </a:t>
            </a:r>
            <a:r>
              <a:rPr lang="en-US" sz="13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(regla determinística)   ·   </a:t>
            </a:r>
            <a:r>
              <a:rPr lang="en-US" sz="13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(estadística + métricas)   ·   </a:t>
            </a:r>
            <a:r>
              <a:rPr lang="en-US" sz="13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acciones por municipio)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HARDWARE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IoT real e ingesta de datos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desplegado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(Wi-Fi) + sensor de gas MQ2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horaria NTP (zona Bogotá)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por HTTPS POST a endpoint propio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URL-encoded: municipio, estación, parámetro, fecha, medición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lista para cualquier dron/sensor vía endpoint JSON configurable.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A2E5C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de integración de visión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(webhook):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detección hace POST a api/evento.php; VigIA lo guarda y lo cruza con SIEDCO.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(microservicio):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ai-service (FastAPI) envuelve el modelo TSN; VigIA sube el video y recibe la clasificación.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· VISIÓN POR COMPUTADOR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TSN y mapeo a modalidades SIEDCO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 (Temporal Segment Network) + ResNet-50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MMAction2 (PyTorch)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video; salida: scores por clase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Niveles: hurto / riesgo / normal + alerta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83080"/>
          <a:ext cx="566928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(visión)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Modalidad SIEDCO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Robbery / 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Hurto a personas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4rxi-8m8d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Shoplifting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Hurto a comercio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7i2x-h5vp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Hurto a residencias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7mn7-vzqp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Fighting / Assault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Lesiones personales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jr6v-i33g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Homicidio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m8fd-ahd9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· FICHA TÉCNICA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repositorio y cumplimiento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PHP 8.2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163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MySQL / MariaDB 11.4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3009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+ jQuery + Chart.js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85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Socrata SODA (datos.gov.co)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270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IA/LLM: multi-proveedor (6 opciones)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TSN / MMAction2 (Python)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ESP8266 + MQ2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E8F7F0"/>
          </a:solidFill>
          <a:ln w="12700">
            <a:solidFill>
              <a:srgbClr val="E1E6EC"/>
            </a:solidFill>
            <a:prstDash val="solid"/>
          </a:ln>
          <a:effectLst>
            <a:outerShdw blurRad="88900" dist="38100" dir="5400000" algn="bl" rotWithShape="0">
              <a:srgbClr val="1A2E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entregables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MIT (código abierto).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017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secretos en el repositorio.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657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personales: solo fuentes oficiales ya anonimizadas.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2976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apoyo con revisión humana.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937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documentación (CRISP-ML, datasets, ética) y modo jurado incluidos.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· Equipo 80 — Concurso Datos al Ecosistema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rone_sc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81" y="365760"/>
            <a:ext cx="7821038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3233</Words>
  <Application>Microsoft Office PowerPoint</Application>
  <PresentationFormat>Widescreen</PresentationFormat>
  <Paragraphs>444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VigIA — IA para Colombia</dc:title>
  <dc:subject>PptxGenJS Presentation</dc:subject>
  <dc:creator>Equipo 80 — VigIA</dc:creator>
  <cp:lastModifiedBy>Andrés Nova</cp:lastModifiedBy>
  <cp:revision>2</cp:revision>
  <dcterms:created xsi:type="dcterms:W3CDTF">2026-07-11T05:06:20Z</dcterms:created>
  <dcterms:modified xsi:type="dcterms:W3CDTF">2026-07-11T17:55:18Z</dcterms:modified>
</cp:coreProperties>
</file>